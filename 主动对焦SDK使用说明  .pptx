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10"/>
  </p:notesMasterIdLst>
  <p:handoutMasterIdLst>
    <p:handoutMasterId r:id="rId11"/>
  </p:handoutMasterIdLst>
  <p:sldIdLst>
    <p:sldId id="256" r:id="rId4"/>
    <p:sldId id="265" r:id="rId5"/>
    <p:sldId id="266" r:id="rId6"/>
    <p:sldId id="284" r:id="rId7"/>
    <p:sldId id="283" r:id="rId8"/>
    <p:sldId id="285" r:id="rId9"/>
  </p:sldIdLst>
  <p:sldSz cx="12192000" cy="6858000"/>
  <p:notesSz cx="6858000" cy="9144000"/>
  <p:embeddedFontLst>
    <p:embeddedFont>
      <p:font typeface="MiSans Normal" panose="00000500000000000000" charset="-122"/>
      <p:regular r:id="rId16"/>
    </p:embeddedFont>
    <p:embeddedFont>
      <p:font typeface="MiSans Heavy" panose="00000A00000000000000" charset="-122"/>
      <p:bold r:id="rId17"/>
    </p:embeddedFont>
    <p:embeddedFont>
      <p:font typeface="Calibri" panose="020F0502020204030204"/>
      <p:regular r:id="rId18"/>
      <p:bold r:id="rId19"/>
      <p:italic r:id="rId20"/>
      <p:boldItalic r:id="rId21"/>
    </p:embeddedFont>
    <p:embeddedFont>
      <p:font typeface="微软雅黑" panose="020B0503020204020204" charset="-122"/>
      <p:regular r:id="rId22"/>
      <p:bold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BFD5F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2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3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9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10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1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60.xml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62.xml"/><Relationship Id="rId2" Type="http://schemas.openxmlformats.org/officeDocument/2006/relationships/image" Target="../media/image1.png"/><Relationship Id="rId1" Type="http://schemas.openxmlformats.org/officeDocument/2006/relationships/tags" Target="../tags/tag16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6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64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6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6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6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794385" y="3283585"/>
            <a:ext cx="9794240" cy="1130935"/>
          </a:xfrm>
        </p:spPr>
        <p:txBody>
          <a:bodyPr>
            <a:normAutofit fontScale="90000"/>
          </a:bodyPr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7200"/>
              <a:t>主动对焦</a:t>
            </a:r>
            <a:r>
              <a:rPr lang="en-US" altLang="zh-CN" sz="7200"/>
              <a:t>SDK</a:t>
            </a:r>
            <a:r>
              <a:rPr lang="zh-CN" altLang="en-US" sz="7200"/>
              <a:t>使用说明书
</a:t>
            </a:r>
            <a:endParaRPr lang="zh-CN" altLang="en-US" sz="7200"/>
          </a:p>
        </p:txBody>
      </p:sp>
      <p:pic>
        <p:nvPicPr>
          <p:cNvPr id="7" name="图片 7" descr="51940c612b4e709c54af70034b9d5f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920" y="-103505"/>
            <a:ext cx="2879725" cy="97282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"/>
          </p:nvPr>
        </p:nvSpPr>
        <p:spPr>
          <a:xfrm>
            <a:off x="695960" y="190455"/>
            <a:ext cx="10800080" cy="720000"/>
          </a:xfrm>
        </p:spPr>
        <p:txBody>
          <a:bodyPr/>
          <a:p>
            <a:r>
              <a:rPr lang="zh-CN" altLang="en-US"/>
              <a:t>二次开发使用说明</a:t>
            </a:r>
            <a:endParaRPr lang="zh-CN" altLang="en-US"/>
          </a:p>
        </p:txBody>
      </p:sp>
      <p:pic>
        <p:nvPicPr>
          <p:cNvPr id="3" name="图片 7" descr="51940c612b4e709c54af70034b9d5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2920" y="-103505"/>
            <a:ext cx="2879725" cy="97282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19" name="表格 18"/>
          <p:cNvGraphicFramePr/>
          <p:nvPr/>
        </p:nvGraphicFramePr>
        <p:xfrm>
          <a:off x="503555" y="1336040"/>
          <a:ext cx="5198110" cy="3022600"/>
        </p:xfrm>
        <a:graphic>
          <a:graphicData uri="http://schemas.openxmlformats.org/drawingml/2006/table">
            <a:tbl>
              <a:tblPr/>
              <a:tblGrid>
                <a:gridCol w="2618740"/>
                <a:gridCol w="2579370"/>
              </a:tblGrid>
              <a:tr h="0">
                <a:tc gridSpan="2">
                  <a:txBody>
                    <a:bodyPr/>
                    <a:p>
                      <a:pPr marL="1888490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DLL</a:t>
                      </a:r>
                      <a:r>
                        <a:rPr lang="zh-CN" sz="1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使用说明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684D3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Get_Working_Objective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设置工作物镜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Get_Objective_List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获取对焦镜头列表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Set_Objective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设置对焦镜头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Connect_AF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连接传感器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DisConnect_AF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断开连接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Auto_Focus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主动对焦开启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InIt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镜头参数标定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Make0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声明当前位置为原点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AF_Stop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主动对焦停止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Set_AF_State_Ptr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获取对焦模块状态事件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Move_Z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移动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Z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轴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14478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Set_Laser_Power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设置激光强度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GetImageData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设置图像指针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13081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MoveZValueCallback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Z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轴控制回调函数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44195" y="4454525"/>
            <a:ext cx="406400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Result  Result {</a:t>
            </a:r>
            <a:endParaRPr lang="en-US" altLang="zh-CN" sz="1000"/>
          </a:p>
          <a:p>
            <a:r>
              <a:rPr lang="en-US" altLang="zh-CN" sz="1000"/>
              <a:t>    int code;</a:t>
            </a:r>
            <a:endParaRPr lang="en-US" altLang="zh-CN" sz="1000"/>
          </a:p>
          <a:p>
            <a:r>
              <a:rPr lang="en-US" altLang="zh-CN" sz="1000"/>
              <a:t>    char* message;</a:t>
            </a:r>
            <a:endParaRPr lang="en-US" altLang="zh-CN" sz="1000"/>
          </a:p>
          <a:p>
            <a:r>
              <a:rPr lang="en-US" altLang="zh-CN" sz="1000"/>
              <a:t>};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Result  Result_Array {</a:t>
            </a:r>
            <a:endParaRPr lang="en-US" altLang="zh-CN" sz="1000"/>
          </a:p>
          <a:p>
            <a:r>
              <a:rPr lang="en-US" altLang="zh-CN" sz="1000"/>
              <a:t>    int code;</a:t>
            </a:r>
            <a:endParaRPr lang="en-US" altLang="zh-CN" sz="1000"/>
          </a:p>
          <a:p>
            <a:r>
              <a:rPr lang="en-US" altLang="zh-CN" sz="1000"/>
              <a:t>    char** strings;</a:t>
            </a:r>
            <a:endParaRPr lang="en-US" altLang="zh-CN" sz="1000"/>
          </a:p>
          <a:p>
            <a:r>
              <a:rPr lang="en-US" altLang="zh-CN" sz="1000"/>
              <a:t>    int count;</a:t>
            </a:r>
            <a:endParaRPr lang="en-US" altLang="zh-CN" sz="1000"/>
          </a:p>
          <a:p>
            <a:r>
              <a:rPr lang="en-US" altLang="zh-CN" sz="1000"/>
              <a:t>};</a:t>
            </a:r>
            <a:endParaRPr lang="en-US" altLang="zh-CN" sz="1000"/>
          </a:p>
          <a:p>
            <a:endParaRPr lang="en-US" altLang="zh-CN" sz="1000"/>
          </a:p>
        </p:txBody>
      </p:sp>
      <p:graphicFrame>
        <p:nvGraphicFramePr>
          <p:cNvPr id="7" name="表格 6"/>
          <p:cNvGraphicFramePr/>
          <p:nvPr/>
        </p:nvGraphicFramePr>
        <p:xfrm>
          <a:off x="6431280" y="1000125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string Get_Working_Objective();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获取当前工作物镜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为镜头信息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431280" y="3215640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 Set_Objective(char* af_objective);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设置工作物镜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入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参数，见下方说明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af_lens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设置从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Get_Objective_List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函数获取的镜头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为设置成功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>
                <a:sym typeface="+mn-ea"/>
              </a:rPr>
              <a:t>二次开发使用说明</a:t>
            </a:r>
            <a:endParaRPr lang="zh-CN" altLang="en-US"/>
          </a:p>
        </p:txBody>
      </p:sp>
      <p:pic>
        <p:nvPicPr>
          <p:cNvPr id="7" name="图片 7" descr="51940c612b4e709c54af70034b9d5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2920" y="-103505"/>
            <a:ext cx="2879725" cy="97282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表格 5"/>
          <p:cNvGraphicFramePr/>
          <p:nvPr/>
        </p:nvGraphicFramePr>
        <p:xfrm>
          <a:off x="294640" y="1127125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Result_Array Get_Objective_List();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获取镜头列表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为镜头列表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294640" y="3054350"/>
          <a:ext cx="5411470" cy="288036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Connect_AF(char* port);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连接传感器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个输入参数，见下方说明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algn="just"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port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端口号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为成功提示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6279515" y="1127125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DisConnect_AF()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断开连接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为成功提示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6279515" y="3185160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Auto_Focus();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主动对焦开启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需要单独开启一个线程运行。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为成功提示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>
                <a:sym typeface="+mn-ea"/>
              </a:rPr>
              <a:t>二次开发使用说明</a:t>
            </a:r>
            <a:endParaRPr lang="zh-CN" altLang="en-US"/>
          </a:p>
        </p:txBody>
      </p:sp>
      <p:pic>
        <p:nvPicPr>
          <p:cNvPr id="7" name="图片 7" descr="51940c612b4e709c54af70034b9d5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2920" y="-103505"/>
            <a:ext cx="2879725" cy="97282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8" name="表格 7"/>
          <p:cNvGraphicFramePr/>
          <p:nvPr/>
        </p:nvGraphicFramePr>
        <p:xfrm>
          <a:off x="6084570" y="1000125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AF_Stop();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停止对焦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为停止完成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6085205" y="3074035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 Move_Z(int value);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轴移动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入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参数，见下方说明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step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移动步长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为设置成功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356870" y="999490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 InIt(int step);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物镜参数标定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个输入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step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标定步长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以当前位置为原点±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1/2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为标定步长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为设置成功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356870" y="3492500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 Make0();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切换同类型材质的样品时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手动移到焦面位置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声明当前位置为零点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为设置成功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>
                <a:sym typeface="+mn-ea"/>
              </a:rPr>
              <a:t>二次开发使用说明</a:t>
            </a:r>
            <a:endParaRPr lang="zh-CN" altLang="en-US"/>
          </a:p>
        </p:txBody>
      </p:sp>
      <p:pic>
        <p:nvPicPr>
          <p:cNvPr id="7" name="图片 7" descr="51940c612b4e709c54af70034b9d5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2920" y="-103505"/>
            <a:ext cx="2879725" cy="97282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11" name="表格 10"/>
          <p:cNvGraphicFramePr/>
          <p:nvPr/>
        </p:nvGraphicFramePr>
        <p:xfrm>
          <a:off x="6161405" y="999490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 GetImageData(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    unsigned char** out_data,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    int* out_width,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    int* out_height,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    int* out_step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获取图像指针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入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参数，见下方说明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数据指针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 + 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宽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 + 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高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 + 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步长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为设置成功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356870" y="999490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 Set_Laser_Power( int laserPower);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设置激光强度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个输入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algn="just"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laserPower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激光强度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0-1000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为设置成功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如果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Result.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code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Result.message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为报错信息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356870" y="3492500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Result  Set_AF_State_Ptr(int* stateptr);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获取镜头列表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个输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response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对焦成功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对焦中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标定中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3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标定完成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-1 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：对焦失败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-2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标定失败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-3 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轴移动超时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6161405" y="4022725"/>
          <a:ext cx="5411470" cy="2160270"/>
        </p:xfrm>
        <a:graphic>
          <a:graphicData uri="http://schemas.openxmlformats.org/drawingml/2006/table">
            <a:tbl>
              <a:tblPr/>
              <a:tblGrid>
                <a:gridCol w="1196340"/>
                <a:gridCol w="4215130"/>
              </a:tblGrid>
              <a:tr h="3600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void MoveZValueCallback(ValueCallback cb);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B8E1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3177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指令说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明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轴控制回调函数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共有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个输入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参数，见下方说明。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algn="just"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cb</a:t>
                      </a:r>
                      <a:endParaRPr lang="en-US" alt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typedef void (*ValueCallback)(int value);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marL="22923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输出参</a:t>
                      </a:r>
                      <a:r>
                        <a:rPr lang="zh-CN" sz="120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sz="120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4378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>
                <a:sym typeface="+mn-ea"/>
              </a:rPr>
              <a:t>调用流程</a:t>
            </a:r>
            <a:endParaRPr lang="zh-CN" altLang="en-US"/>
          </a:p>
        </p:txBody>
      </p:sp>
      <p:pic>
        <p:nvPicPr>
          <p:cNvPr id="7" name="图片 7" descr="51940c612b4e709c54af70034b9d5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2920" y="-103505"/>
            <a:ext cx="2879725" cy="97282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9450" y="1316355"/>
            <a:ext cx="48533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zh-CN">
                <a:latin typeface="Calibri" panose="020F0502020204030204"/>
                <a:ea typeface="Calibri" panose="020F0502020204030204"/>
                <a:sym typeface="+mn-ea"/>
              </a:rPr>
              <a:t>Set_AF_State_Ptr </a:t>
            </a:r>
            <a:r>
              <a:rPr lang="zh-CN" altLang="en-US">
                <a:latin typeface="Calibri" panose="020F0502020204030204"/>
                <a:ea typeface="宋体" panose="02010600030101010101" pitchFamily="2" charset="-122"/>
                <a:sym typeface="+mn-ea"/>
              </a:rPr>
              <a:t>设置对焦状态指针</a:t>
            </a:r>
            <a:endParaRPr lang="zh-CN" altLang="en-US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342900" indent="-342900">
              <a:buAutoNum type="arabicPeriod"/>
            </a:pPr>
            <a:r>
              <a:rPr lang="en-US" altLang="zh-CN">
                <a:latin typeface="Calibri" panose="020F0502020204030204"/>
                <a:ea typeface="Calibri" panose="020F0502020204030204"/>
                <a:sym typeface="+mn-ea"/>
              </a:rPr>
              <a:t>MoveZValueCallback </a:t>
            </a:r>
            <a:r>
              <a:rPr lang="zh-CN" altLang="en-US">
                <a:latin typeface="Calibri" panose="020F0502020204030204"/>
                <a:ea typeface="宋体" panose="02010600030101010101" pitchFamily="2" charset="-122"/>
                <a:sym typeface="+mn-ea"/>
              </a:rPr>
              <a:t>设置</a:t>
            </a:r>
            <a:r>
              <a:rPr lang="en-US" altLang="zh-CN">
                <a:latin typeface="Calibri" panose="020F0502020204030204"/>
                <a:ea typeface="宋体" panose="02010600030101010101" pitchFamily="2" charset="-122"/>
                <a:sym typeface="+mn-ea"/>
              </a:rPr>
              <a:t>Z</a:t>
            </a:r>
            <a:r>
              <a:rPr lang="zh-CN" altLang="en-US">
                <a:latin typeface="Calibri" panose="020F0502020204030204"/>
                <a:ea typeface="宋体" panose="02010600030101010101" pitchFamily="2" charset="-122"/>
                <a:sym typeface="+mn-ea"/>
              </a:rPr>
              <a:t>轴移动回调函数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Connect_AF </a:t>
            </a:r>
            <a:endParaRPr lang="en-US" altLang="zh-CN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>
                <a:latin typeface="Calibri" panose="020F0502020204030204"/>
                <a:ea typeface="宋体" panose="02010600030101010101" pitchFamily="2" charset="-122"/>
                <a:sym typeface="+mn-ea"/>
              </a:rPr>
              <a:t>Get_Objective_List</a:t>
            </a:r>
            <a:endParaRPr lang="en-US" altLang="zh-CN">
              <a:latin typeface="Calibri" panose="020F0502020204030204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>
                <a:latin typeface="Calibri" panose="020F0502020204030204"/>
                <a:ea typeface="宋体" panose="02010600030101010101" pitchFamily="2" charset="-122"/>
                <a:sym typeface="+mn-ea"/>
              </a:rPr>
              <a:t>Set_Objective</a:t>
            </a:r>
            <a:endParaRPr lang="en-US" altLang="zh-CN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342900" indent="-342900">
              <a:buAutoNum type="arabicPeriod"/>
            </a:pPr>
            <a:r>
              <a:rPr lang="en-US" altLang="zh-CN">
                <a:latin typeface="Calibri" panose="020F0502020204030204"/>
                <a:ea typeface="Calibri" panose="020F0502020204030204"/>
                <a:sym typeface="+mn-ea"/>
              </a:rPr>
              <a:t>Set_Laser_Power</a:t>
            </a:r>
            <a:endParaRPr lang="en-US" altLang="zh-CN">
              <a:latin typeface="Calibri" panose="020F0502020204030204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InIt 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对于已经标定过的可跳过</a:t>
            </a:r>
            <a:endParaRPr lang="en-US" altLang="zh-CN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>
                <a:latin typeface="Calibri" panose="020F0502020204030204"/>
                <a:ea typeface="宋体" panose="02010600030101010101" pitchFamily="2" charset="-122"/>
                <a:sym typeface="+mn-ea"/>
              </a:rPr>
              <a:t>Auto_Focus</a:t>
            </a:r>
            <a:endParaRPr lang="en-US" altLang="zh-CN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342900" indent="-342900">
              <a:buAutoNum type="arabicPeriod"/>
            </a:pPr>
            <a:r>
              <a:rPr lang="en-US" altLang="zh-CN">
                <a:latin typeface="Calibri" panose="020F0502020204030204"/>
                <a:ea typeface="Calibri" panose="020F0502020204030204"/>
                <a:sym typeface="+mn-ea"/>
              </a:rPr>
              <a:t>AF_Stop</a:t>
            </a:r>
            <a:endParaRPr lang="en-US" altLang="zh-CN">
              <a:latin typeface="Calibri" panose="020F0502020204030204"/>
              <a:ea typeface="Calibri" panose="020F0502020204030204"/>
              <a:sym typeface="+mn-ea"/>
            </a:endParaRPr>
          </a:p>
          <a:p>
            <a:pPr marL="342900" indent="-342900">
              <a:buAutoNum type="arabicPeriod"/>
            </a:pPr>
            <a:endParaRPr lang="en-US" altLang="zh-CN">
              <a:latin typeface="Calibri" panose="020F0502020204030204"/>
              <a:ea typeface="Calibri" panose="020F0502020204030204"/>
            </a:endParaRPr>
          </a:p>
          <a:p>
            <a:endParaRPr lang="en-US" altLang="zh-CN">
              <a:latin typeface="Calibri" panose="020F0502020204030204"/>
              <a:ea typeface="宋体" panose="02010600030101010101" pitchFamily="2" charset="-122"/>
            </a:endParaRPr>
          </a:p>
          <a:p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5701665" y="1336040"/>
          <a:ext cx="5198110" cy="3022600"/>
        </p:xfrm>
        <a:graphic>
          <a:graphicData uri="http://schemas.openxmlformats.org/drawingml/2006/table">
            <a:tbl>
              <a:tblPr/>
              <a:tblGrid>
                <a:gridCol w="2618740"/>
                <a:gridCol w="2579370"/>
              </a:tblGrid>
              <a:tr h="0">
                <a:tc gridSpan="2">
                  <a:txBody>
                    <a:bodyPr/>
                    <a:p>
                      <a:pPr marL="1888490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DLL</a:t>
                      </a:r>
                      <a:r>
                        <a:rPr lang="zh-CN" sz="1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使用说明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684D3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Get_Working_Objective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设置工作物镜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Get_Objective_List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获取对焦镜头列表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Set_Objective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设置对焦镜头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Connect_AF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连接传感器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DisConnect_AF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断开连接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Auto_Focus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主动对焦开启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InIt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镜头参数标定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Make0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声明当前位置为原点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AF_Stop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主动对焦停止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Set_AF_State_Ptr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获取对焦模块状态事件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Move_Z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移动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Z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轴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14478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Set_Laser_Power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设置激光强度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GetImageData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设置图像指针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D5F0"/>
                    </a:solidFill>
                  </a:tcPr>
                </a:tc>
              </a:tr>
              <a:tr h="130810"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MoveZValueCallback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66675" indent="0" algn="jus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Z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轴控制回调函数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CFCF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6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6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8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9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13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13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1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1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1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1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1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1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1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1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15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6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162.xml><?xml version="1.0" encoding="utf-8"?>
<p:tagLst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  <p:tag name="KSO_WM_SLIDE_THEME_ID" val="3303413"/>
  <p:tag name="KSO_WM_SLIDE_THEME_NAME" val="蓝色几何极简风主题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3195</Words>
  <Application>WPS 演示</Application>
  <PresentationFormat>宽屏</PresentationFormat>
  <Paragraphs>494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MiSans Normal</vt:lpstr>
      <vt:lpstr>MiSans Heavy</vt:lpstr>
      <vt:lpstr>Calibri</vt:lpstr>
      <vt:lpstr>微软雅黑</vt:lpstr>
      <vt:lpstr>Arial Unicode MS</vt:lpstr>
      <vt:lpstr>WPS</vt:lpstr>
      <vt:lpstr>1_Office 主题</vt:lpstr>
      <vt:lpstr>主动对焦SDK使用说明书
</vt:lpstr>
      <vt:lpstr>二次开发使用说明</vt:lpstr>
      <vt:lpstr>二次开发使用说明</vt:lpstr>
      <vt:lpstr>二次开发使用说明</vt:lpstr>
      <vt:lpstr>二次开发使用说明</vt:lpstr>
      <vt:lpstr>调用流程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</cp:lastModifiedBy>
  <cp:revision>182</cp:revision>
  <dcterms:created xsi:type="dcterms:W3CDTF">2019-06-19T02:08:00Z</dcterms:created>
  <dcterms:modified xsi:type="dcterms:W3CDTF">2026-06-23T09:27:27Z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606E0A24456447DA81BE85D283C1CB13_13</vt:lpwstr>
  </property>
</Properties>
</file>